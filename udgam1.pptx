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D8CA"/>
          </a:solidFill>
        </a:fill>
      </a:tcStyle>
    </a:wholeTbl>
    <a:band2H>
      <a:tcTxStyle b="def" i="def"/>
      <a:tcStyle>
        <a:tcBdr/>
        <a:fill>
          <a:solidFill>
            <a:srgbClr val="FAEC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0CD"/>
          </a:solidFill>
        </a:fill>
      </a:tcStyle>
    </a:wholeTbl>
    <a:band2H>
      <a:tcTxStyle b="def" i="def"/>
      <a:tcStyle>
        <a:tcBdr/>
        <a:fill>
          <a:solidFill>
            <a:srgbClr val="EDE9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DFD9"/>
          </a:solidFill>
        </a:fill>
      </a:tcStyle>
    </a:wholeTbl>
    <a:band2H>
      <a:tcTxStyle b="def" i="def"/>
      <a:tcStyle>
        <a:tcBdr/>
        <a:fill>
          <a:solidFill>
            <a:srgbClr val="EEF0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" name="Rectangle 7"/>
          <p:cNvSpPr/>
          <p:nvPr/>
        </p:nvSpPr>
        <p:spPr>
          <a:xfrm>
            <a:off x="14" y="6334316"/>
            <a:ext cx="12188826" cy="640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" name="Title Text"/>
          <p:cNvSpPr txBox="1"/>
          <p:nvPr>
            <p:ph type="title"/>
          </p:nvPr>
        </p:nvSpPr>
        <p:spPr>
          <a:xfrm>
            <a:off x="1097280" y="758951"/>
            <a:ext cx="10058401" cy="3566161"/>
          </a:xfrm>
          <a:prstGeom prst="rect">
            <a:avLst/>
          </a:prstGeom>
        </p:spPr>
        <p:txBody>
          <a:bodyPr/>
          <a:lstStyle>
            <a:lvl1pPr>
              <a:defRPr sz="8000">
                <a:solidFill>
                  <a:srgbClr val="262626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" name="Body Level One…"/>
          <p:cNvSpPr txBox="1"/>
          <p:nvPr>
            <p:ph type="body" sz="quarter" idx="1"/>
          </p:nvPr>
        </p:nvSpPr>
        <p:spPr>
          <a:xfrm>
            <a:off x="1100050" y="4455619"/>
            <a:ext cx="10058401" cy="11430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indent="4572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indent="9144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indent="13716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indent="18288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" name="Straight Connector 8"/>
          <p:cNvSpPr/>
          <p:nvPr/>
        </p:nvSpPr>
        <p:spPr>
          <a:xfrm>
            <a:off x="1207657" y="4343400"/>
            <a:ext cx="9875522" cy="0"/>
          </a:xfrm>
          <a:prstGeom prst="line">
            <a:avLst/>
          </a:prstGeom>
          <a:ln w="6350">
            <a:solidFill>
              <a:srgbClr val="808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7" name="Body Level One…"/>
          <p:cNvSpPr txBox="1"/>
          <p:nvPr>
            <p:ph type="body" idx="1"/>
          </p:nvPr>
        </p:nvSpPr>
        <p:spPr>
          <a:xfrm>
            <a:off x="1097280" y="1845734"/>
            <a:ext cx="10058401" cy="402336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Rectangle 7"/>
          <p:cNvSpPr/>
          <p:nvPr/>
        </p:nvSpPr>
        <p:spPr>
          <a:xfrm>
            <a:off x="14" y="6334316"/>
            <a:ext cx="12188826" cy="640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itle Text"/>
          <p:cNvSpPr txBox="1"/>
          <p:nvPr>
            <p:ph type="title"/>
          </p:nvPr>
        </p:nvSpPr>
        <p:spPr>
          <a:xfrm>
            <a:off x="1097280" y="758951"/>
            <a:ext cx="10058401" cy="3566161"/>
          </a:xfrm>
          <a:prstGeom prst="rect">
            <a:avLst/>
          </a:prstGeom>
        </p:spPr>
        <p:txBody>
          <a:bodyPr/>
          <a:lstStyle>
            <a:lvl1pPr>
              <a:defRPr sz="8000">
                <a:solidFill>
                  <a:srgbClr val="262626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quarter" idx="1"/>
          </p:nvPr>
        </p:nvSpPr>
        <p:spPr>
          <a:xfrm>
            <a:off x="1097280" y="4453128"/>
            <a:ext cx="10058401" cy="11430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indent="4572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indent="9144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indent="13716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indent="1828800">
              <a:buClrTx/>
              <a:buSzTx/>
              <a:buFontTx/>
              <a:buNone/>
              <a:defRPr cap="all" spc="200" sz="2400">
                <a:solidFill>
                  <a:srgbClr val="637052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traight Connector 8"/>
          <p:cNvSpPr/>
          <p:nvPr/>
        </p:nvSpPr>
        <p:spPr>
          <a:xfrm>
            <a:off x="1207657" y="4343400"/>
            <a:ext cx="9875522" cy="0"/>
          </a:xfrm>
          <a:prstGeom prst="line">
            <a:avLst/>
          </a:prstGeom>
          <a:ln w="6350">
            <a:solidFill>
              <a:srgbClr val="808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1097278" y="1845734"/>
            <a:ext cx="4937761" cy="402336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1097280" y="1846052"/>
            <a:ext cx="4937760" cy="736283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1pPr>
            <a:lvl2pPr marL="0" indent="45720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2pPr>
            <a:lvl3pPr marL="0" indent="91440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3pPr>
            <a:lvl4pPr marL="0" indent="137160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4pPr>
            <a:lvl5pPr marL="0" indent="182880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/>
          <p:nvPr>
            <p:ph type="body" sz="quarter" idx="21"/>
          </p:nvPr>
        </p:nvSpPr>
        <p:spPr>
          <a:xfrm>
            <a:off x="6217920" y="1846052"/>
            <a:ext cx="4937761" cy="736283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 marL="0" indent="0">
              <a:buClrTx/>
              <a:buSzTx/>
              <a:buFontTx/>
              <a:buNone/>
              <a:defRPr cap="all">
                <a:solidFill>
                  <a:srgbClr val="637052"/>
                </a:solidFill>
              </a:defRPr>
            </a:pP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Rectangle 5"/>
          <p:cNvSpPr/>
          <p:nvPr/>
        </p:nvSpPr>
        <p:spPr>
          <a:xfrm>
            <a:off x="14" y="6334316"/>
            <a:ext cx="12188826" cy="640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7"/>
          <p:cNvSpPr/>
          <p:nvPr/>
        </p:nvSpPr>
        <p:spPr>
          <a:xfrm>
            <a:off x="15" y="0"/>
            <a:ext cx="4050793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Rectangle 8"/>
          <p:cNvSpPr/>
          <p:nvPr/>
        </p:nvSpPr>
        <p:spPr>
          <a:xfrm>
            <a:off x="4040070" y="0"/>
            <a:ext cx="64009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itle Text"/>
          <p:cNvSpPr txBox="1"/>
          <p:nvPr>
            <p:ph type="title"/>
          </p:nvPr>
        </p:nvSpPr>
        <p:spPr>
          <a:xfrm>
            <a:off x="457200" y="594359"/>
            <a:ext cx="3200400" cy="2286001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6" name="Body Level One…"/>
          <p:cNvSpPr txBox="1"/>
          <p:nvPr>
            <p:ph type="body" idx="1"/>
          </p:nvPr>
        </p:nvSpPr>
        <p:spPr>
          <a:xfrm>
            <a:off x="4800600" y="731519"/>
            <a:ext cx="6492241" cy="52578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Text Placeholder 3"/>
          <p:cNvSpPr/>
          <p:nvPr>
            <p:ph type="body" sz="quarter" idx="21"/>
          </p:nvPr>
        </p:nvSpPr>
        <p:spPr>
          <a:xfrm>
            <a:off x="457200" y="2926079"/>
            <a:ext cx="3200400" cy="3379125"/>
          </a:xfrm>
          <a:prstGeom prst="rect">
            <a:avLst/>
          </a:prstGeom>
        </p:spPr>
        <p:txBody>
          <a:bodyPr lIns="45719" tIns="45719" rIns="45719" bIns="45719"/>
          <a:lstStyle/>
          <a:p>
            <a:pPr marL="0" indent="0"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37052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Rectangle 8"/>
          <p:cNvSpPr/>
          <p:nvPr/>
        </p:nvSpPr>
        <p:spPr>
          <a:xfrm>
            <a:off x="14" y="4915075"/>
            <a:ext cx="12188826" cy="640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itle Text"/>
          <p:cNvSpPr txBox="1"/>
          <p:nvPr>
            <p:ph type="title"/>
          </p:nvPr>
        </p:nvSpPr>
        <p:spPr>
          <a:xfrm>
            <a:off x="1097280" y="5074920"/>
            <a:ext cx="10113265" cy="822961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8" name="Picture Placeholder 2"/>
          <p:cNvSpPr/>
          <p:nvPr>
            <p:ph type="pic" idx="21"/>
          </p:nvPr>
        </p:nvSpPr>
        <p:spPr>
          <a:xfrm>
            <a:off x="14" y="0"/>
            <a:ext cx="12191987" cy="49150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9" name="Body Level One…"/>
          <p:cNvSpPr txBox="1"/>
          <p:nvPr>
            <p:ph type="body" sz="quarter" idx="1"/>
          </p:nvPr>
        </p:nvSpPr>
        <p:spPr>
          <a:xfrm>
            <a:off x="1097280" y="5907023"/>
            <a:ext cx="10113265" cy="5943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1pPr>
            <a:lvl2pPr marL="0" indent="45720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2pPr>
            <a:lvl3pPr marL="0" indent="91440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3pPr>
            <a:lvl4pPr marL="0" indent="137160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4pPr>
            <a:lvl5pPr marL="0" indent="1828800">
              <a:spcBef>
                <a:spcPts val="600"/>
              </a:spcBef>
              <a:buClrTx/>
              <a:buSzTx/>
              <a:buFontTx/>
              <a:buNone/>
              <a:defRPr sz="15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Rectangle 8"/>
          <p:cNvSpPr/>
          <p:nvPr/>
        </p:nvSpPr>
        <p:spPr>
          <a:xfrm>
            <a:off x="-1" y="6334316"/>
            <a:ext cx="12192003" cy="659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" name="Straight Connector 9"/>
          <p:cNvSpPr/>
          <p:nvPr/>
        </p:nvSpPr>
        <p:spPr>
          <a:xfrm>
            <a:off x="1193532" y="1737845"/>
            <a:ext cx="9966960" cy="1"/>
          </a:xfrm>
          <a:prstGeom prst="line">
            <a:avLst/>
          </a:prstGeom>
          <a:ln w="6350">
            <a:solidFill>
              <a:srgbClr val="808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10979606" y="6528092"/>
            <a:ext cx="232878" cy="22851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91439" marR="0" indent="-91439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 "/>
        <a:tabLst/>
        <a:defRPr b="0" baseline="0" cap="none" i="0" spc="0" strike="noStrike" sz="2000" u="none">
          <a:solidFill>
            <a:srgbClr val="404040"/>
          </a:solidFill>
          <a:uFillTx/>
          <a:latin typeface="+mj-lt"/>
          <a:ea typeface="+mj-ea"/>
          <a:cs typeface="+mj-cs"/>
          <a:sym typeface="Calibri"/>
        </a:defRPr>
      </a:lvl1pPr>
      <a:lvl2pPr marL="404368" marR="0" indent="-203200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j-lt"/>
          <a:ea typeface="+mj-ea"/>
          <a:cs typeface="+mj-cs"/>
          <a:sym typeface="Calibri"/>
        </a:defRPr>
      </a:lvl2pPr>
      <a:lvl3pPr marL="645305" marR="0" indent="-26125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j-lt"/>
          <a:ea typeface="+mj-ea"/>
          <a:cs typeface="+mj-cs"/>
          <a:sym typeface="Calibri"/>
        </a:defRPr>
      </a:lvl3pPr>
      <a:lvl4pPr marL="828185" marR="0" indent="-26125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j-lt"/>
          <a:ea typeface="+mj-ea"/>
          <a:cs typeface="+mj-cs"/>
          <a:sym typeface="Calibri"/>
        </a:defRPr>
      </a:lvl4pPr>
      <a:lvl5pPr marL="1011065" marR="0" indent="-26125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j-lt"/>
          <a:ea typeface="+mj-ea"/>
          <a:cs typeface="+mj-cs"/>
          <a:sym typeface="Calibri"/>
        </a:defRPr>
      </a:lvl5pPr>
      <a:lvl6pPr marL="1197971" marR="0" indent="-326571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j-lt"/>
          <a:ea typeface="+mj-ea"/>
          <a:cs typeface="+mj-cs"/>
          <a:sym typeface="Calibri"/>
        </a:defRPr>
      </a:lvl6pPr>
      <a:lvl7pPr marL="1397971" marR="0" indent="-326571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j-lt"/>
          <a:ea typeface="+mj-ea"/>
          <a:cs typeface="+mj-cs"/>
          <a:sym typeface="Calibri"/>
        </a:defRPr>
      </a:lvl7pPr>
      <a:lvl8pPr marL="1597971" marR="0" indent="-326571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j-lt"/>
          <a:ea typeface="+mj-ea"/>
          <a:cs typeface="+mj-cs"/>
          <a:sym typeface="Calibri"/>
        </a:defRPr>
      </a:lvl8pPr>
      <a:lvl9pPr marL="1797971" marR="0" indent="-326571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nvirajput21.github.io/ManKush-MindFit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 txBox="1"/>
          <p:nvPr/>
        </p:nvSpPr>
        <p:spPr>
          <a:xfrm>
            <a:off x="3375292" y="175370"/>
            <a:ext cx="5441415" cy="631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300"/>
            </a:lvl1pPr>
          </a:lstStyle>
          <a:p>
            <a:pPr/>
            <a:r>
              <a:t>Banasthali Udgam 2026</a:t>
            </a:r>
          </a:p>
        </p:txBody>
      </p:sp>
      <p:sp>
        <p:nvSpPr>
          <p:cNvPr id="110" name="Team Name: ManKush…"/>
          <p:cNvSpPr txBox="1"/>
          <p:nvPr/>
        </p:nvSpPr>
        <p:spPr>
          <a:xfrm>
            <a:off x="482364" y="1949418"/>
            <a:ext cx="6647375" cy="4638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b="1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Team Name: </a:t>
            </a:r>
            <a:r>
              <a:rPr b="0"/>
              <a:t>ManKush</a:t>
            </a:r>
          </a:p>
          <a:p>
            <a:pPr>
              <a:spcBef>
                <a:spcPts val="1200"/>
              </a:spcBef>
              <a:defRPr b="1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Team Members: </a:t>
            </a:r>
            <a:r>
              <a:rPr b="0"/>
              <a:t>Khushi Sharma</a:t>
            </a:r>
            <a:endParaRPr b="0"/>
          </a:p>
          <a:p>
            <a:pPr lvl="8" indent="1828800">
              <a:spcBef>
                <a:spcPts val="1200"/>
              </a:spcBef>
              <a:defRPr b="1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         Manvi Rajput</a:t>
            </a:r>
            <a:endParaRPr b="0"/>
          </a:p>
          <a:p>
            <a:pPr>
              <a:spcBef>
                <a:spcPts val="1200"/>
              </a:spcBef>
              <a:defRPr b="1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Institution</a:t>
            </a:r>
            <a:r>
              <a:rPr b="0"/>
              <a:t>: Banasthali Vidyapith</a:t>
            </a:r>
            <a:endParaRPr b="0"/>
          </a:p>
          <a:p>
            <a:pPr>
              <a:spcBef>
                <a:spcPts val="1200"/>
              </a:spcBef>
              <a:defRPr b="1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Problem Track</a:t>
            </a:r>
            <a:r>
              <a:rPr b="0"/>
              <a:t>: Accessible Health &amp; </a:t>
            </a:r>
            <a:endParaRPr b="0"/>
          </a:p>
          <a:p>
            <a:pPr lvl="8" indent="1828800">
              <a:spcBef>
                <a:spcPts val="1200"/>
              </a:spcBef>
              <a:defRPr b="1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       Wellness</a:t>
            </a:r>
          </a:p>
          <a:p>
            <a:pPr>
              <a:spcBef>
                <a:spcPts val="1200"/>
              </a:spcBef>
              <a:defRPr b="1" sz="28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</p:txBody>
      </p:sp>
      <p:sp>
        <p:nvSpPr>
          <p:cNvPr id="111" name="Your Mind • Your Body • Your Pattern"/>
          <p:cNvSpPr txBox="1"/>
          <p:nvPr/>
        </p:nvSpPr>
        <p:spPr>
          <a:xfrm>
            <a:off x="3246984" y="919882"/>
            <a:ext cx="55313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spcBef>
                <a:spcPts val="1200"/>
              </a:spcBef>
              <a:defRPr b="1" sz="2600">
                <a:solidFill>
                  <a:schemeClr val="accent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Your Mind • Your Body • Your Pattern</a:t>
            </a:r>
          </a:p>
        </p:txBody>
      </p:sp>
      <p:pic>
        <p:nvPicPr>
          <p:cNvPr id="112" name="WhatsApp Image 2026-09-15 at 7.29.23 PM.jpeg" descr="WhatsApp Image 2026-09-15 at 7.29.23 PM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97453" y="1311077"/>
            <a:ext cx="5084609" cy="4859066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rack → Discover → Act → Learn"/>
          <p:cNvSpPr txBox="1"/>
          <p:nvPr/>
        </p:nvSpPr>
        <p:spPr>
          <a:xfrm>
            <a:off x="7314719" y="5496703"/>
            <a:ext cx="4050077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200"/>
              </a:spcBef>
              <a:defRPr b="1" sz="2100">
                <a:solidFill>
                  <a:schemeClr val="accent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Track → Discover → Act → Learn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 txBox="1"/>
          <p:nvPr/>
        </p:nvSpPr>
        <p:spPr>
          <a:xfrm>
            <a:off x="284761" y="276926"/>
            <a:ext cx="3994396" cy="5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/>
            </a:lvl1pPr>
          </a:lstStyle>
          <a:p>
            <a:pPr/>
            <a:r>
              <a:t>Problem Statement</a:t>
            </a:r>
          </a:p>
        </p:txBody>
      </p:sp>
      <p:sp>
        <p:nvSpPr>
          <p:cNvPr id="116" name="HOW DOES MENTAL HEALTH AFFECT PHYSICAL HEALTH — AND CAN WE IDENTIFY THESE CONNECTIONS EARLY?…"/>
          <p:cNvSpPr txBox="1"/>
          <p:nvPr/>
        </p:nvSpPr>
        <p:spPr>
          <a:xfrm>
            <a:off x="270842" y="1058981"/>
            <a:ext cx="10049484" cy="4740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HOW DOES MENTAL HEALTH AFFECT PHYSICAL HEALTH — AND CAN WE IDENTIFY THESE CONNECTIONS EARLY?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Wellness signals are often tracked separately</a:t>
            </a:r>
            <a:r>
              <a:t>, making important relationships between mental and physical health difficult to notice.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 averages don’t reflect individual patterns</a:t>
            </a:r>
            <a:r>
              <a:t>, because what is “normal” for one person may be different for another.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Mental and physical health influence each other</a:t>
            </a:r>
            <a:r>
              <a:t> — changes in stress, mood, sleep, activity, and other wellness signals may be connected to physical changes.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Early warning patterns can easily go unnoticed</a:t>
            </a:r>
            <a:r>
              <a:t>, especially when changes are gradual rather than sudden.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People need simple, personalized, and explainable insights</a:t>
            </a:r>
            <a:r>
              <a:rPr b="0"/>
              <a:t>, not complex dashboards or medical diagnoses.</a:t>
            </a:r>
            <a:endParaRPr b="0"/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Manual tracking becomes overwhelming</a:t>
            </a:r>
            <a:r>
              <a:t> when users have to continuously log every health and lifestyle variable.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real challenge is turning scattered wellness data into meaningful patterns</a:t>
            </a:r>
            <a:r>
              <a:rPr b="0"/>
              <a:t> that help individuals better understand their own well-being.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 txBox="1"/>
          <p:nvPr/>
        </p:nvSpPr>
        <p:spPr>
          <a:xfrm>
            <a:off x="509880" y="174897"/>
            <a:ext cx="2639441" cy="5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/>
            </a:lvl1pPr>
          </a:lstStyle>
          <a:p>
            <a:pPr/>
            <a:r>
              <a:t>Our Solution</a:t>
            </a:r>
          </a:p>
        </p:txBody>
      </p:sp>
      <p:sp>
        <p:nvSpPr>
          <p:cNvPr id="119" name="Rounded Rectangle 12"/>
          <p:cNvSpPr/>
          <p:nvPr/>
        </p:nvSpPr>
        <p:spPr>
          <a:xfrm>
            <a:off x="461892" y="904148"/>
            <a:ext cx="5496451" cy="5361243"/>
          </a:xfrm>
          <a:prstGeom prst="roundRect">
            <a:avLst>
              <a:gd name="adj" fmla="val 12711"/>
            </a:avLst>
          </a:prstGeom>
          <a:solidFill>
            <a:srgbClr val="F2F2F2"/>
          </a:solidFill>
          <a:ln>
            <a:solidFill>
              <a:srgbClr val="D7D7D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ectangle 13"/>
          <p:cNvSpPr/>
          <p:nvPr/>
        </p:nvSpPr>
        <p:spPr>
          <a:xfrm>
            <a:off x="433937" y="1426087"/>
            <a:ext cx="91964" cy="4305352"/>
          </a:xfrm>
          <a:prstGeom prst="rect">
            <a:avLst/>
          </a:prstGeom>
          <a:solidFill>
            <a:srgbClr val="BE4E23"/>
          </a:solidFill>
          <a:ln>
            <a:solidFill>
              <a:srgbClr val="BE4E2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14"/>
          <p:cNvSpPr txBox="1"/>
          <p:nvPr/>
        </p:nvSpPr>
        <p:spPr>
          <a:xfrm>
            <a:off x="736212" y="1590679"/>
            <a:ext cx="28803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User Impact</a:t>
            </a:r>
          </a:p>
        </p:txBody>
      </p:sp>
      <p:sp>
        <p:nvSpPr>
          <p:cNvPr id="122" name="TextBox 15"/>
          <p:cNvSpPr txBox="1"/>
          <p:nvPr/>
        </p:nvSpPr>
        <p:spPr>
          <a:xfrm>
            <a:off x="736212" y="2020447"/>
            <a:ext cx="5120964" cy="3548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 understands the connection between their daily habits, mental wellbeing, and menstrual health.</a:t>
            </a: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 continuously analyzes the user’s:</a:t>
            </a: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b="1"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Sleep • Stress • Mood • Energy • Symptoms • Menstrual Cycle</a:t>
            </a: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and uses their own historical data to build a personal baseline, identify meaningful patterns, and provide clear, personalized recommendations.</a:t>
            </a: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Instead of simply showing raw health data, MindFit answers:</a:t>
            </a: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“What is changing in my body and routine, and what patterns can I learn from it?”</a:t>
            </a:r>
          </a:p>
          <a:p>
            <a:pPr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b="1"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Track → Learn → Detect Patterns → Understand → Take Action</a:t>
            </a:r>
          </a:p>
        </p:txBody>
      </p:sp>
      <p:pic>
        <p:nvPicPr>
          <p:cNvPr id="123" name="Screenshot 2026-09-15 at 6.06.29 PM.png" descr="Screenshot 2026-09-15 at 6.06.2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1631" y="1442679"/>
            <a:ext cx="5904222" cy="3690139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0" dist="127000" dir="1620000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 txBox="1"/>
          <p:nvPr/>
        </p:nvSpPr>
        <p:spPr>
          <a:xfrm>
            <a:off x="249216" y="312471"/>
            <a:ext cx="3626319" cy="5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/>
            </a:lvl1pPr>
          </a:lstStyle>
          <a:p>
            <a:pPr/>
            <a:r>
              <a:t>Innovation &amp; USP</a:t>
            </a:r>
          </a:p>
        </p:txBody>
      </p:sp>
      <p:sp>
        <p:nvSpPr>
          <p:cNvPr id="126" name="TextBox 7"/>
          <p:cNvSpPr txBox="1"/>
          <p:nvPr/>
        </p:nvSpPr>
        <p:spPr>
          <a:xfrm>
            <a:off x="777239" y="1325880"/>
            <a:ext cx="101498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400"/>
              </a:spcBef>
              <a:defRPr b="1" sz="2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sz="1700"/>
            </a:pPr>
            <a:r>
              <a:rPr sz="2500"/>
              <a:t>Your baseline. Your patterns. Your recommendations.</a:t>
            </a:r>
          </a:p>
        </p:txBody>
      </p:sp>
      <p:sp>
        <p:nvSpPr>
          <p:cNvPr id="127" name="Rounded Rectangle 8"/>
          <p:cNvSpPr/>
          <p:nvPr/>
        </p:nvSpPr>
        <p:spPr>
          <a:xfrm>
            <a:off x="731519" y="2099564"/>
            <a:ext cx="5212081" cy="1347724"/>
          </a:xfrm>
          <a:prstGeom prst="roundRect">
            <a:avLst>
              <a:gd name="adj" fmla="val 16200"/>
            </a:avLst>
          </a:prstGeom>
          <a:solidFill>
            <a:srgbClr val="F2F2F2"/>
          </a:solidFill>
          <a:ln>
            <a:solidFill>
              <a:srgbClr val="D7D7D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Rectangle 9"/>
          <p:cNvSpPr/>
          <p:nvPr/>
        </p:nvSpPr>
        <p:spPr>
          <a:xfrm>
            <a:off x="731519" y="2251265"/>
            <a:ext cx="64009" cy="1093598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10"/>
          <p:cNvSpPr txBox="1"/>
          <p:nvPr/>
        </p:nvSpPr>
        <p:spPr>
          <a:xfrm>
            <a:off x="1005840" y="2237246"/>
            <a:ext cx="466344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PERSONAL BASELINE</a:t>
            </a:r>
          </a:p>
        </p:txBody>
      </p:sp>
      <p:sp>
        <p:nvSpPr>
          <p:cNvPr id="130" name="TextBox 11"/>
          <p:cNvSpPr txBox="1"/>
          <p:nvPr/>
        </p:nvSpPr>
        <p:spPr>
          <a:xfrm>
            <a:off x="982980" y="2743200"/>
            <a:ext cx="466344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57200" indent="-317500"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Learns what is "normal" for each user</a:t>
            </a:r>
          </a:p>
          <a:p>
            <a:pPr marL="457200" indent="-317500">
              <a:buSzPct val="100000"/>
              <a:buFont typeface="Times Roman"/>
              <a:buChar char="•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Compares current health against their own history</a:t>
            </a:r>
          </a:p>
        </p:txBody>
      </p:sp>
      <p:sp>
        <p:nvSpPr>
          <p:cNvPr id="131" name="Rounded Rectangle 12"/>
          <p:cNvSpPr/>
          <p:nvPr/>
        </p:nvSpPr>
        <p:spPr>
          <a:xfrm>
            <a:off x="6217920" y="2095308"/>
            <a:ext cx="5166360" cy="1351980"/>
          </a:xfrm>
          <a:prstGeom prst="roundRect">
            <a:avLst>
              <a:gd name="adj" fmla="val 16007"/>
            </a:avLst>
          </a:prstGeom>
          <a:solidFill>
            <a:srgbClr val="F2F2F2"/>
          </a:solidFill>
          <a:ln>
            <a:solidFill>
              <a:srgbClr val="D7D7D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ectangle 13"/>
          <p:cNvSpPr/>
          <p:nvPr/>
        </p:nvSpPr>
        <p:spPr>
          <a:xfrm>
            <a:off x="6217920" y="2242009"/>
            <a:ext cx="64009" cy="1112110"/>
          </a:xfrm>
          <a:prstGeom prst="rect">
            <a:avLst/>
          </a:prstGeom>
          <a:solidFill>
            <a:srgbClr val="BE4E23"/>
          </a:solidFill>
          <a:ln>
            <a:solidFill>
              <a:srgbClr val="BE4E2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14"/>
          <p:cNvSpPr txBox="1"/>
          <p:nvPr/>
        </p:nvSpPr>
        <p:spPr>
          <a:xfrm>
            <a:off x="6492240" y="2229899"/>
            <a:ext cx="466344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 PATTERNS DISCOVERY</a:t>
            </a:r>
          </a:p>
        </p:txBody>
      </p:sp>
      <p:sp>
        <p:nvSpPr>
          <p:cNvPr id="134" name="TextBox 15"/>
          <p:cNvSpPr txBox="1"/>
          <p:nvPr/>
        </p:nvSpPr>
        <p:spPr>
          <a:xfrm>
            <a:off x="6492240" y="2584546"/>
            <a:ext cx="4663440" cy="867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Sleep ↔ Stress</a:t>
            </a:r>
          </a:p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Stress ↔ Physical symptoms</a:t>
            </a:r>
          </a:p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Activity ↔ Energy</a:t>
            </a:r>
          </a:p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Cycle ↔ Symptoms.</a:t>
            </a:r>
          </a:p>
        </p:txBody>
      </p:sp>
      <p:sp>
        <p:nvSpPr>
          <p:cNvPr id="135" name="Rounded Rectangle 16"/>
          <p:cNvSpPr/>
          <p:nvPr/>
        </p:nvSpPr>
        <p:spPr>
          <a:xfrm>
            <a:off x="731519" y="3749038"/>
            <a:ext cx="5212081" cy="1536196"/>
          </a:xfrm>
          <a:prstGeom prst="roundRect">
            <a:avLst>
              <a:gd name="adj" fmla="val 14088"/>
            </a:avLst>
          </a:prstGeom>
          <a:solidFill>
            <a:srgbClr val="F2F2F2"/>
          </a:solidFill>
          <a:ln>
            <a:solidFill>
              <a:srgbClr val="D7D7D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 17"/>
          <p:cNvSpPr/>
          <p:nvPr/>
        </p:nvSpPr>
        <p:spPr>
          <a:xfrm>
            <a:off x="731519" y="3904996"/>
            <a:ext cx="64009" cy="1298449"/>
          </a:xfrm>
          <a:prstGeom prst="rect">
            <a:avLst/>
          </a:prstGeom>
          <a:solidFill>
            <a:srgbClr val="BE4E23"/>
          </a:solidFill>
          <a:ln>
            <a:solidFill>
              <a:srgbClr val="BE4E2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18"/>
          <p:cNvSpPr txBox="1"/>
          <p:nvPr/>
        </p:nvSpPr>
        <p:spPr>
          <a:xfrm>
            <a:off x="1005840" y="3870967"/>
            <a:ext cx="466344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PERSONALIZED ACTIONS</a:t>
            </a:r>
          </a:p>
        </p:txBody>
      </p:sp>
      <p:sp>
        <p:nvSpPr>
          <p:cNvPr id="138" name="TextBox 19"/>
          <p:cNvSpPr txBox="1"/>
          <p:nvPr/>
        </p:nvSpPr>
        <p:spPr>
          <a:xfrm>
            <a:off x="982980" y="4243259"/>
            <a:ext cx="4663440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Sleep improvement</a:t>
            </a:r>
          </a:p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Regular meals/hydration</a:t>
            </a:r>
          </a:p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Physical activity</a:t>
            </a:r>
          </a:p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Recreation &amp; hobbies</a:t>
            </a:r>
          </a:p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Stress-management activities.</a:t>
            </a:r>
          </a:p>
        </p:txBody>
      </p:sp>
      <p:sp>
        <p:nvSpPr>
          <p:cNvPr id="139" name="Rounded Rectangle 20"/>
          <p:cNvSpPr/>
          <p:nvPr/>
        </p:nvSpPr>
        <p:spPr>
          <a:xfrm>
            <a:off x="6217920" y="3749038"/>
            <a:ext cx="5212080" cy="1536196"/>
          </a:xfrm>
          <a:prstGeom prst="roundRect">
            <a:avLst>
              <a:gd name="adj" fmla="val 14212"/>
            </a:avLst>
          </a:prstGeom>
          <a:solidFill>
            <a:srgbClr val="F2F2F2"/>
          </a:solidFill>
          <a:ln>
            <a:solidFill>
              <a:srgbClr val="D7D7D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Rectangle 21"/>
          <p:cNvSpPr/>
          <p:nvPr/>
        </p:nvSpPr>
        <p:spPr>
          <a:xfrm>
            <a:off x="6217920" y="3902487"/>
            <a:ext cx="64009" cy="1298449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22"/>
          <p:cNvSpPr txBox="1"/>
          <p:nvPr/>
        </p:nvSpPr>
        <p:spPr>
          <a:xfrm>
            <a:off x="6492240" y="3870967"/>
            <a:ext cx="466344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MENSTRUAL CONTEXT</a:t>
            </a:r>
          </a:p>
        </p:txBody>
      </p:sp>
      <p:sp>
        <p:nvSpPr>
          <p:cNvPr id="142" name="TextBox 23"/>
          <p:cNvSpPr txBox="1"/>
          <p:nvPr/>
        </p:nvSpPr>
        <p:spPr>
          <a:xfrm>
            <a:off x="6492240" y="4343400"/>
            <a:ext cx="4663440" cy="497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130342" indent="-130342">
              <a:buSzPct val="100000"/>
              <a:buChar char="•"/>
              <a:defRPr sz="13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Cycle logging adds context without requiring wearables or expensive devices.</a:t>
            </a:r>
          </a:p>
        </p:txBody>
      </p:sp>
      <p:sp>
        <p:nvSpPr>
          <p:cNvPr id="143" name="TextBox 25"/>
          <p:cNvSpPr txBox="1"/>
          <p:nvPr/>
        </p:nvSpPr>
        <p:spPr>
          <a:xfrm>
            <a:off x="777240" y="5504688"/>
            <a:ext cx="8412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Personalized • Explainable • Lightweight • No wearable dependency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 txBox="1"/>
          <p:nvPr/>
        </p:nvSpPr>
        <p:spPr>
          <a:xfrm>
            <a:off x="426942" y="264693"/>
            <a:ext cx="2810518" cy="58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/>
            </a:lvl1pPr>
          </a:lstStyle>
          <a:p>
            <a:pPr/>
            <a:r>
              <a:t>How It Works</a:t>
            </a:r>
          </a:p>
        </p:txBody>
      </p:sp>
      <p:sp>
        <p:nvSpPr>
          <p:cNvPr id="146" name="Text"/>
          <p:cNvSpPr txBox="1"/>
          <p:nvPr/>
        </p:nvSpPr>
        <p:spPr>
          <a:xfrm>
            <a:off x="108650" y="3203775"/>
            <a:ext cx="481755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</a:p>
        </p:txBody>
      </p:sp>
      <p:sp>
        <p:nvSpPr>
          <p:cNvPr id="147" name="Rounded Rectangle 1"/>
          <p:cNvSpPr/>
          <p:nvPr/>
        </p:nvSpPr>
        <p:spPr>
          <a:xfrm>
            <a:off x="180217" y="1134695"/>
            <a:ext cx="5725534" cy="4930000"/>
          </a:xfrm>
          <a:prstGeom prst="roundRect">
            <a:avLst>
              <a:gd name="adj" fmla="val 19611"/>
            </a:avLst>
          </a:prstGeom>
          <a:solidFill>
            <a:srgbClr val="FFFFFF"/>
          </a:solidFill>
          <a:ln w="12700">
            <a:solidFill>
              <a:srgbClr val="E1E4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3"/>
          <p:cNvSpPr txBox="1"/>
          <p:nvPr/>
        </p:nvSpPr>
        <p:spPr>
          <a:xfrm>
            <a:off x="11731751" y="6473952"/>
            <a:ext cx="137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9" name="TextBox 20"/>
          <p:cNvSpPr txBox="1"/>
          <p:nvPr/>
        </p:nvSpPr>
        <p:spPr>
          <a:xfrm>
            <a:off x="700047" y="1266637"/>
            <a:ext cx="429768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Process Flow</a:t>
            </a:r>
          </a:p>
        </p:txBody>
      </p:sp>
      <p:sp>
        <p:nvSpPr>
          <p:cNvPr id="150" name="Rectangle 21"/>
          <p:cNvSpPr/>
          <p:nvPr/>
        </p:nvSpPr>
        <p:spPr>
          <a:xfrm>
            <a:off x="700048" y="1796989"/>
            <a:ext cx="4709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Rounded Rectangle 22"/>
          <p:cNvSpPr/>
          <p:nvPr/>
        </p:nvSpPr>
        <p:spPr>
          <a:xfrm>
            <a:off x="791487" y="1870142"/>
            <a:ext cx="347473" cy="347473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23"/>
          <p:cNvSpPr txBox="1"/>
          <p:nvPr/>
        </p:nvSpPr>
        <p:spPr>
          <a:xfrm>
            <a:off x="837207" y="1902146"/>
            <a:ext cx="25603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3" name="TextBox 24"/>
          <p:cNvSpPr txBox="1"/>
          <p:nvPr/>
        </p:nvSpPr>
        <p:spPr>
          <a:xfrm>
            <a:off x="1385847" y="1906718"/>
            <a:ext cx="36576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Authenticate / open dashboard</a:t>
            </a:r>
          </a:p>
        </p:txBody>
      </p:sp>
      <p:sp>
        <p:nvSpPr>
          <p:cNvPr id="154" name="TextBox 25"/>
          <p:cNvSpPr txBox="1"/>
          <p:nvPr/>
        </p:nvSpPr>
        <p:spPr>
          <a:xfrm>
            <a:off x="2894607" y="2263334"/>
            <a:ext cx="2286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BE4E2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55" name="Rectangle 26"/>
          <p:cNvSpPr/>
          <p:nvPr/>
        </p:nvSpPr>
        <p:spPr>
          <a:xfrm>
            <a:off x="700048" y="2455358"/>
            <a:ext cx="4709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Rounded Rectangle 27"/>
          <p:cNvSpPr/>
          <p:nvPr/>
        </p:nvSpPr>
        <p:spPr>
          <a:xfrm>
            <a:off x="791487" y="2528510"/>
            <a:ext cx="347473" cy="347473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28"/>
          <p:cNvSpPr txBox="1"/>
          <p:nvPr/>
        </p:nvSpPr>
        <p:spPr>
          <a:xfrm>
            <a:off x="837207" y="2560514"/>
            <a:ext cx="25603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8" name="TextBox 29"/>
          <p:cNvSpPr txBox="1"/>
          <p:nvPr/>
        </p:nvSpPr>
        <p:spPr>
          <a:xfrm>
            <a:off x="1385847" y="2565086"/>
            <a:ext cx="36576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Log daily signals + cycle</a:t>
            </a:r>
          </a:p>
        </p:txBody>
      </p:sp>
      <p:sp>
        <p:nvSpPr>
          <p:cNvPr id="159" name="TextBox 30"/>
          <p:cNvSpPr txBox="1"/>
          <p:nvPr/>
        </p:nvSpPr>
        <p:spPr>
          <a:xfrm>
            <a:off x="2894607" y="2921702"/>
            <a:ext cx="2286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BE4E2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60" name="Rectangle 31"/>
          <p:cNvSpPr/>
          <p:nvPr/>
        </p:nvSpPr>
        <p:spPr>
          <a:xfrm>
            <a:off x="700048" y="3113726"/>
            <a:ext cx="4709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Rounded Rectangle 32"/>
          <p:cNvSpPr/>
          <p:nvPr/>
        </p:nvSpPr>
        <p:spPr>
          <a:xfrm>
            <a:off x="791487" y="3186878"/>
            <a:ext cx="347473" cy="347473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33"/>
          <p:cNvSpPr txBox="1"/>
          <p:nvPr/>
        </p:nvSpPr>
        <p:spPr>
          <a:xfrm>
            <a:off x="837207" y="3218882"/>
            <a:ext cx="25603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3" name="TextBox 34"/>
          <p:cNvSpPr txBox="1"/>
          <p:nvPr/>
        </p:nvSpPr>
        <p:spPr>
          <a:xfrm>
            <a:off x="1385847" y="3223454"/>
            <a:ext cx="36576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Update personal baseline</a:t>
            </a:r>
          </a:p>
        </p:txBody>
      </p:sp>
      <p:sp>
        <p:nvSpPr>
          <p:cNvPr id="164" name="TextBox 35"/>
          <p:cNvSpPr txBox="1"/>
          <p:nvPr/>
        </p:nvSpPr>
        <p:spPr>
          <a:xfrm>
            <a:off x="2894607" y="3580068"/>
            <a:ext cx="2286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BE4E2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65" name="Rectangle 36"/>
          <p:cNvSpPr/>
          <p:nvPr/>
        </p:nvSpPr>
        <p:spPr>
          <a:xfrm>
            <a:off x="700048" y="3772093"/>
            <a:ext cx="4709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Rounded Rectangle 37"/>
          <p:cNvSpPr/>
          <p:nvPr/>
        </p:nvSpPr>
        <p:spPr>
          <a:xfrm>
            <a:off x="791487" y="3845244"/>
            <a:ext cx="347473" cy="347473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38"/>
          <p:cNvSpPr txBox="1"/>
          <p:nvPr/>
        </p:nvSpPr>
        <p:spPr>
          <a:xfrm>
            <a:off x="837207" y="3877248"/>
            <a:ext cx="25603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" name="TextBox 39"/>
          <p:cNvSpPr txBox="1"/>
          <p:nvPr/>
        </p:nvSpPr>
        <p:spPr>
          <a:xfrm>
            <a:off x="1385847" y="3881820"/>
            <a:ext cx="36576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Detect patterns &amp; lagged relationships</a:t>
            </a:r>
          </a:p>
        </p:txBody>
      </p:sp>
      <p:sp>
        <p:nvSpPr>
          <p:cNvPr id="169" name="TextBox 40"/>
          <p:cNvSpPr txBox="1"/>
          <p:nvPr/>
        </p:nvSpPr>
        <p:spPr>
          <a:xfrm>
            <a:off x="2894607" y="4238437"/>
            <a:ext cx="2286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BE4E2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70" name="Rectangle 41"/>
          <p:cNvSpPr/>
          <p:nvPr/>
        </p:nvSpPr>
        <p:spPr>
          <a:xfrm>
            <a:off x="700048" y="4430461"/>
            <a:ext cx="4709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Rounded Rectangle 42"/>
          <p:cNvSpPr/>
          <p:nvPr/>
        </p:nvSpPr>
        <p:spPr>
          <a:xfrm>
            <a:off x="791487" y="4503613"/>
            <a:ext cx="347473" cy="347473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43"/>
          <p:cNvSpPr txBox="1"/>
          <p:nvPr/>
        </p:nvSpPr>
        <p:spPr>
          <a:xfrm>
            <a:off x="837207" y="4535617"/>
            <a:ext cx="25603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3" name="TextBox 44"/>
          <p:cNvSpPr txBox="1"/>
          <p:nvPr/>
        </p:nvSpPr>
        <p:spPr>
          <a:xfrm>
            <a:off x="1385847" y="4540189"/>
            <a:ext cx="36576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Generate insight + recommendation</a:t>
            </a:r>
          </a:p>
        </p:txBody>
      </p:sp>
      <p:sp>
        <p:nvSpPr>
          <p:cNvPr id="174" name="Rounded Rectangle 45"/>
          <p:cNvSpPr/>
          <p:nvPr/>
        </p:nvSpPr>
        <p:spPr>
          <a:xfrm>
            <a:off x="700047" y="5244277"/>
            <a:ext cx="4709161" cy="594361"/>
          </a:xfrm>
          <a:prstGeom prst="roundRect">
            <a:avLst>
              <a:gd name="adj" fmla="val 16667"/>
            </a:avLst>
          </a:prstGeom>
          <a:solidFill>
            <a:srgbClr val="F7F4F0"/>
          </a:solidFill>
          <a:ln w="12700">
            <a:solidFill>
              <a:srgbClr val="DCCD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46"/>
          <p:cNvSpPr txBox="1"/>
          <p:nvPr/>
        </p:nvSpPr>
        <p:spPr>
          <a:xfrm>
            <a:off x="928647" y="5418013"/>
            <a:ext cx="4251961" cy="424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BE4E2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ML finds the pattern  →  AI explains it  →  User chooses the action</a:t>
            </a:r>
          </a:p>
        </p:txBody>
      </p:sp>
      <p:pic>
        <p:nvPicPr>
          <p:cNvPr id="176" name="Screenshot 2026-09-15 at 6.04.09 PM.png" descr="Screenshot 2026-09-15 at 6.04.0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10689" y="1210334"/>
            <a:ext cx="5968121" cy="373007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0" dist="127000" dir="1620000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 txBox="1"/>
          <p:nvPr/>
        </p:nvSpPr>
        <p:spPr>
          <a:xfrm>
            <a:off x="509880" y="110289"/>
            <a:ext cx="3338363" cy="5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/>
            </a:lvl1pPr>
          </a:lstStyle>
          <a:p>
            <a:pPr/>
            <a:r>
              <a:t>Technology &amp; AI</a:t>
            </a:r>
          </a:p>
        </p:txBody>
      </p:sp>
      <p:sp>
        <p:nvSpPr>
          <p:cNvPr id="179" name="TextBox 4"/>
          <p:cNvSpPr txBox="1"/>
          <p:nvPr/>
        </p:nvSpPr>
        <p:spPr>
          <a:xfrm>
            <a:off x="11731751" y="6473952"/>
            <a:ext cx="137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  <p:pic>
        <p:nvPicPr>
          <p:cNvPr id="18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50408" y="965085"/>
            <a:ext cx="6729539" cy="3499361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extBox 11"/>
          <p:cNvSpPr txBox="1"/>
          <p:nvPr/>
        </p:nvSpPr>
        <p:spPr>
          <a:xfrm>
            <a:off x="5713325" y="4907332"/>
            <a:ext cx="612648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BE4B4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Important: correlation is presented as a pattern, never as causation or diagnosis.</a:t>
            </a:r>
          </a:p>
        </p:txBody>
      </p:sp>
      <p:sp>
        <p:nvSpPr>
          <p:cNvPr id="182" name="Rounded Rectangle 1"/>
          <p:cNvSpPr/>
          <p:nvPr/>
        </p:nvSpPr>
        <p:spPr>
          <a:xfrm>
            <a:off x="256660" y="976555"/>
            <a:ext cx="5238300" cy="3310864"/>
          </a:xfrm>
          <a:prstGeom prst="roundRect">
            <a:avLst>
              <a:gd name="adj" fmla="val 30530"/>
            </a:avLst>
          </a:prstGeom>
          <a:solidFill>
            <a:srgbClr val="FFFFFF"/>
          </a:solidFill>
          <a:ln w="12700">
            <a:solidFill>
              <a:srgbClr val="E1E4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3"/>
          <p:cNvSpPr txBox="1"/>
          <p:nvPr/>
        </p:nvSpPr>
        <p:spPr>
          <a:xfrm>
            <a:off x="11731751" y="6473952"/>
            <a:ext cx="137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4" name="TextBox 4"/>
          <p:cNvSpPr txBox="1"/>
          <p:nvPr/>
        </p:nvSpPr>
        <p:spPr>
          <a:xfrm>
            <a:off x="731519" y="1325880"/>
            <a:ext cx="475488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Technology Stack</a:t>
            </a:r>
          </a:p>
        </p:txBody>
      </p:sp>
      <p:sp>
        <p:nvSpPr>
          <p:cNvPr id="185" name="Rounded Rectangle 5"/>
          <p:cNvSpPr/>
          <p:nvPr/>
        </p:nvSpPr>
        <p:spPr>
          <a:xfrm>
            <a:off x="685800" y="1838198"/>
            <a:ext cx="4543400" cy="512065"/>
          </a:xfrm>
          <a:prstGeom prst="roundRect">
            <a:avLst>
              <a:gd name="adj" fmla="val 16667"/>
            </a:avLst>
          </a:prstGeom>
          <a:solidFill>
            <a:srgbClr val="F9FAFD"/>
          </a:solidFill>
          <a:ln w="12700">
            <a:solidFill>
              <a:srgbClr val="E1E4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6"/>
          <p:cNvSpPr txBox="1"/>
          <p:nvPr/>
        </p:nvSpPr>
        <p:spPr>
          <a:xfrm>
            <a:off x="941831" y="1984248"/>
            <a:ext cx="123444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187" name="TextBox 7"/>
          <p:cNvSpPr txBox="1"/>
          <p:nvPr/>
        </p:nvSpPr>
        <p:spPr>
          <a:xfrm>
            <a:off x="2285999" y="1975103"/>
            <a:ext cx="315468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HTML • CSS • JavaScript</a:t>
            </a:r>
          </a:p>
        </p:txBody>
      </p:sp>
      <p:sp>
        <p:nvSpPr>
          <p:cNvPr id="188" name="Rounded Rectangle 8"/>
          <p:cNvSpPr/>
          <p:nvPr/>
        </p:nvSpPr>
        <p:spPr>
          <a:xfrm>
            <a:off x="685800" y="2542032"/>
            <a:ext cx="4543400" cy="512065"/>
          </a:xfrm>
          <a:prstGeom prst="roundRect">
            <a:avLst>
              <a:gd name="adj" fmla="val 16667"/>
            </a:avLst>
          </a:prstGeom>
          <a:solidFill>
            <a:srgbClr val="F9FAFD"/>
          </a:solidFill>
          <a:ln w="12700">
            <a:solidFill>
              <a:srgbClr val="E1E4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9"/>
          <p:cNvSpPr txBox="1"/>
          <p:nvPr/>
        </p:nvSpPr>
        <p:spPr>
          <a:xfrm>
            <a:off x="941831" y="2651760"/>
            <a:ext cx="123444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Visualization</a:t>
            </a:r>
          </a:p>
        </p:txBody>
      </p:sp>
      <p:sp>
        <p:nvSpPr>
          <p:cNvPr id="190" name="TextBox 10"/>
          <p:cNvSpPr txBox="1"/>
          <p:nvPr/>
        </p:nvSpPr>
        <p:spPr>
          <a:xfrm>
            <a:off x="2285999" y="2642615"/>
            <a:ext cx="315468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Chart.js</a:t>
            </a:r>
          </a:p>
        </p:txBody>
      </p:sp>
      <p:sp>
        <p:nvSpPr>
          <p:cNvPr id="191" name="Rounded Rectangle 11"/>
          <p:cNvSpPr/>
          <p:nvPr/>
        </p:nvSpPr>
        <p:spPr>
          <a:xfrm>
            <a:off x="685800" y="3209544"/>
            <a:ext cx="4543400" cy="512065"/>
          </a:xfrm>
          <a:prstGeom prst="roundRect">
            <a:avLst>
              <a:gd name="adj" fmla="val 16667"/>
            </a:avLst>
          </a:prstGeom>
          <a:solidFill>
            <a:srgbClr val="F9FAFD"/>
          </a:solidFill>
          <a:ln w="12700">
            <a:solidFill>
              <a:srgbClr val="E1E4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2"/>
          <p:cNvSpPr txBox="1"/>
          <p:nvPr/>
        </p:nvSpPr>
        <p:spPr>
          <a:xfrm>
            <a:off x="941831" y="3319271"/>
            <a:ext cx="123444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UI</a:t>
            </a:r>
          </a:p>
        </p:txBody>
      </p:sp>
      <p:sp>
        <p:nvSpPr>
          <p:cNvPr id="193" name="TextBox 13"/>
          <p:cNvSpPr txBox="1"/>
          <p:nvPr/>
        </p:nvSpPr>
        <p:spPr>
          <a:xfrm>
            <a:off x="2285999" y="3310127"/>
            <a:ext cx="315468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Font Awesome • Goggle Fonts</a:t>
            </a:r>
          </a:p>
        </p:txBody>
      </p:sp>
      <p:sp>
        <p:nvSpPr>
          <p:cNvPr id="194" name="TextBox 43"/>
          <p:cNvSpPr txBox="1"/>
          <p:nvPr/>
        </p:nvSpPr>
        <p:spPr>
          <a:xfrm>
            <a:off x="6583679" y="4594859"/>
            <a:ext cx="25603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95" name="Rounded Rectangle 1"/>
          <p:cNvSpPr/>
          <p:nvPr/>
        </p:nvSpPr>
        <p:spPr>
          <a:xfrm>
            <a:off x="129660" y="4578204"/>
            <a:ext cx="5492300" cy="158964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4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Future Scope :"/>
          <p:cNvSpPr txBox="1"/>
          <p:nvPr/>
        </p:nvSpPr>
        <p:spPr>
          <a:xfrm>
            <a:off x="863405" y="4697381"/>
            <a:ext cx="1656939" cy="362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/>
            </a:lvl1pPr>
          </a:lstStyle>
          <a:p>
            <a:pPr/>
            <a:r>
              <a:t>Future Scope :</a:t>
            </a:r>
          </a:p>
        </p:txBody>
      </p:sp>
      <p:sp>
        <p:nvSpPr>
          <p:cNvPr id="197" name="Flask • SQLite • Pandas • NumPy"/>
          <p:cNvSpPr txBox="1"/>
          <p:nvPr/>
        </p:nvSpPr>
        <p:spPr>
          <a:xfrm>
            <a:off x="863405" y="5209032"/>
            <a:ext cx="314637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pPr/>
            <a:r>
              <a:t>Flask • SQLite • Pandas • NumPy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"/>
          <p:cNvSpPr txBox="1"/>
          <p:nvPr/>
        </p:nvSpPr>
        <p:spPr>
          <a:xfrm>
            <a:off x="130732" y="324320"/>
            <a:ext cx="4176314" cy="58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/>
            </a:lvl1pPr>
          </a:lstStyle>
          <a:p>
            <a:pPr/>
            <a:r>
              <a:t> Impact &amp; Feasibility</a:t>
            </a:r>
          </a:p>
        </p:txBody>
      </p:sp>
      <p:sp>
        <p:nvSpPr>
          <p:cNvPr id="200" name="Text"/>
          <p:cNvSpPr txBox="1"/>
          <p:nvPr/>
        </p:nvSpPr>
        <p:spPr>
          <a:xfrm>
            <a:off x="5855122" y="3262456"/>
            <a:ext cx="481756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</a:p>
        </p:txBody>
      </p:sp>
      <p:sp>
        <p:nvSpPr>
          <p:cNvPr id="201" name="TextBox 3"/>
          <p:cNvSpPr txBox="1"/>
          <p:nvPr/>
        </p:nvSpPr>
        <p:spPr>
          <a:xfrm>
            <a:off x="11731751" y="6473952"/>
            <a:ext cx="137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02" name="Rounded Rectangle 4"/>
          <p:cNvSpPr/>
          <p:nvPr/>
        </p:nvSpPr>
        <p:spPr>
          <a:xfrm>
            <a:off x="685800" y="1417319"/>
            <a:ext cx="3429000" cy="41605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DD0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Rounded Rectangle 5"/>
          <p:cNvSpPr/>
          <p:nvPr/>
        </p:nvSpPr>
        <p:spPr>
          <a:xfrm>
            <a:off x="685800" y="1417319"/>
            <a:ext cx="3429000" cy="502921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1937D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6"/>
          <p:cNvSpPr txBox="1"/>
          <p:nvPr/>
        </p:nvSpPr>
        <p:spPr>
          <a:xfrm>
            <a:off x="868680" y="1572767"/>
            <a:ext cx="30632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USER IMPACT</a:t>
            </a:r>
          </a:p>
        </p:txBody>
      </p:sp>
      <p:sp>
        <p:nvSpPr>
          <p:cNvPr id="205" name="TextBox 7"/>
          <p:cNvSpPr txBox="1"/>
          <p:nvPr/>
        </p:nvSpPr>
        <p:spPr>
          <a:xfrm>
            <a:off x="960119" y="2148839"/>
            <a:ext cx="2834642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Turns scattered symptoms into a readable personal story.</a:t>
            </a:r>
          </a:p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Encourages self-awareness and healthier next choices.</a:t>
            </a:r>
          </a:p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Reduces tracking burden with a lightweight daily check-in.</a:t>
            </a:r>
          </a:p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Provides menstrual-health context when enabled.</a:t>
            </a:r>
          </a:p>
        </p:txBody>
      </p:sp>
      <p:sp>
        <p:nvSpPr>
          <p:cNvPr id="206" name="Rounded Rectangle 8"/>
          <p:cNvSpPr/>
          <p:nvPr/>
        </p:nvSpPr>
        <p:spPr>
          <a:xfrm>
            <a:off x="4480559" y="1417319"/>
            <a:ext cx="3429001" cy="41605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DD0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Rounded Rectangle 9"/>
          <p:cNvSpPr/>
          <p:nvPr/>
        </p:nvSpPr>
        <p:spPr>
          <a:xfrm>
            <a:off x="4480559" y="1417319"/>
            <a:ext cx="3429001" cy="502921"/>
          </a:xfrm>
          <a:prstGeom prst="roundRect">
            <a:avLst>
              <a:gd name="adj" fmla="val 16667"/>
            </a:avLst>
          </a:prstGeom>
          <a:solidFill>
            <a:srgbClr val="BE4E23"/>
          </a:solidFill>
          <a:ln w="12700">
            <a:solidFill>
              <a:srgbClr val="BE4E2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10"/>
          <p:cNvSpPr txBox="1"/>
          <p:nvPr/>
        </p:nvSpPr>
        <p:spPr>
          <a:xfrm>
            <a:off x="4663440" y="1572767"/>
            <a:ext cx="30632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INNOVATION</a:t>
            </a:r>
          </a:p>
        </p:txBody>
      </p:sp>
      <p:sp>
        <p:nvSpPr>
          <p:cNvPr id="209" name="TextBox 11"/>
          <p:cNvSpPr txBox="1"/>
          <p:nvPr/>
        </p:nvSpPr>
        <p:spPr>
          <a:xfrm>
            <a:off x="4754879" y="2148839"/>
            <a:ext cx="2834642" cy="277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Personal baseline instead of generic averages.</a:t>
            </a:r>
          </a:p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Temporal / lagged relationship detection.</a:t>
            </a:r>
          </a:p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Recommendation loop learns what helps the individual.</a:t>
            </a:r>
          </a:p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LLM explains structured findings instead of inventing them.</a:t>
            </a:r>
          </a:p>
        </p:txBody>
      </p:sp>
      <p:sp>
        <p:nvSpPr>
          <p:cNvPr id="210" name="Rounded Rectangle 12"/>
          <p:cNvSpPr/>
          <p:nvPr/>
        </p:nvSpPr>
        <p:spPr>
          <a:xfrm>
            <a:off x="8275319" y="1417319"/>
            <a:ext cx="3429001" cy="41605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DD0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Rounded Rectangle 13"/>
          <p:cNvSpPr/>
          <p:nvPr/>
        </p:nvSpPr>
        <p:spPr>
          <a:xfrm>
            <a:off x="8275319" y="1417319"/>
            <a:ext cx="3429001" cy="502921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40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14"/>
          <p:cNvSpPr txBox="1"/>
          <p:nvPr/>
        </p:nvSpPr>
        <p:spPr>
          <a:xfrm>
            <a:off x="8458200" y="1572767"/>
            <a:ext cx="30632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FEASIBILITY</a:t>
            </a:r>
          </a:p>
        </p:txBody>
      </p:sp>
      <p:sp>
        <p:nvSpPr>
          <p:cNvPr id="213" name="TextBox 15"/>
          <p:cNvSpPr txBox="1"/>
          <p:nvPr/>
        </p:nvSpPr>
        <p:spPr>
          <a:xfrm>
            <a:off x="8549639" y="2148839"/>
            <a:ext cx="2834641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Python + Flask + SQLite keeps MVP lightweight.</a:t>
            </a:r>
          </a:p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Works without wearables or a paid data source.</a:t>
            </a:r>
          </a:p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LLM can be connected later through a clean API layer.</a:t>
            </a:r>
          </a:p>
          <a:p>
            <a:pPr>
              <a:spcBef>
                <a:spcPts val="700"/>
              </a:spcBef>
              <a:defRPr sz="16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Modular architecture supports cloud DB, auth and integrations.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1"/>
          <p:cNvSpPr txBox="1"/>
          <p:nvPr/>
        </p:nvSpPr>
        <p:spPr>
          <a:xfrm>
            <a:off x="225519" y="253229"/>
            <a:ext cx="5429236" cy="5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/>
            </a:lvl1pPr>
          </a:lstStyle>
          <a:p>
            <a:pPr/>
            <a:r>
              <a:t>Future Roadmap &amp; Closing</a:t>
            </a:r>
          </a:p>
        </p:txBody>
      </p:sp>
      <p:sp>
        <p:nvSpPr>
          <p:cNvPr id="216" name="Text"/>
          <p:cNvSpPr txBox="1"/>
          <p:nvPr/>
        </p:nvSpPr>
        <p:spPr>
          <a:xfrm>
            <a:off x="5855122" y="3262456"/>
            <a:ext cx="481756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</a:p>
        </p:txBody>
      </p:sp>
      <p:sp>
        <p:nvSpPr>
          <p:cNvPr id="217" name="TextBox 6"/>
          <p:cNvSpPr txBox="1"/>
          <p:nvPr/>
        </p:nvSpPr>
        <p:spPr>
          <a:xfrm>
            <a:off x="11201400" y="6446520"/>
            <a:ext cx="41148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5C5C5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8 / 8</a:t>
            </a:r>
          </a:p>
        </p:txBody>
      </p:sp>
      <p:sp>
        <p:nvSpPr>
          <p:cNvPr id="218" name="TextBox 7"/>
          <p:cNvSpPr txBox="1"/>
          <p:nvPr/>
        </p:nvSpPr>
        <p:spPr>
          <a:xfrm>
            <a:off x="777239" y="1325880"/>
            <a:ext cx="99669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191919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From personal tracking to a continuously learning companion.</a:t>
            </a:r>
          </a:p>
        </p:txBody>
      </p:sp>
      <p:sp>
        <p:nvSpPr>
          <p:cNvPr id="219" name="TextBox 8"/>
          <p:cNvSpPr txBox="1"/>
          <p:nvPr/>
        </p:nvSpPr>
        <p:spPr>
          <a:xfrm>
            <a:off x="822960" y="2240279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BE4E2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NOW</a:t>
            </a:r>
          </a:p>
        </p:txBody>
      </p:sp>
      <p:sp>
        <p:nvSpPr>
          <p:cNvPr id="220" name="Rounded Rectangle 9"/>
          <p:cNvSpPr/>
          <p:nvPr/>
        </p:nvSpPr>
        <p:spPr>
          <a:xfrm>
            <a:off x="777240" y="2633472"/>
            <a:ext cx="3154680" cy="164592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19191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10"/>
          <p:cNvSpPr txBox="1"/>
          <p:nvPr/>
        </p:nvSpPr>
        <p:spPr>
          <a:xfrm>
            <a:off x="1051559" y="2994659"/>
            <a:ext cx="2606042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Personal baseline</a:t>
            </a:r>
          </a:p>
          <a:p>
            <a:pPr algn="ctr"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Rule + statistical pattern engine</a:t>
            </a:r>
          </a:p>
          <a:p>
            <a:pPr algn="ctr"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Cycle-aware logging</a:t>
            </a:r>
          </a:p>
        </p:txBody>
      </p:sp>
      <p:sp>
        <p:nvSpPr>
          <p:cNvPr id="222" name="TextBox 11"/>
          <p:cNvSpPr txBox="1"/>
          <p:nvPr/>
        </p:nvSpPr>
        <p:spPr>
          <a:xfrm>
            <a:off x="4526279" y="2240279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BE4E2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NEXT</a:t>
            </a:r>
          </a:p>
        </p:txBody>
      </p:sp>
      <p:sp>
        <p:nvSpPr>
          <p:cNvPr id="223" name="Rounded Rectangle 12"/>
          <p:cNvSpPr/>
          <p:nvPr/>
        </p:nvSpPr>
        <p:spPr>
          <a:xfrm>
            <a:off x="4480559" y="2633472"/>
            <a:ext cx="3154680" cy="1645921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>
            <a:solidFill>
              <a:srgbClr val="19191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13"/>
          <p:cNvSpPr txBox="1"/>
          <p:nvPr/>
        </p:nvSpPr>
        <p:spPr>
          <a:xfrm>
            <a:off x="4754879" y="3108959"/>
            <a:ext cx="260604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LLM-powered explanations</a:t>
            </a:r>
          </a:p>
          <a:p>
            <a:pPr algn="ctr">
              <a:defRPr b="1"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Better temporal models</a:t>
            </a:r>
          </a:p>
          <a:p>
            <a:pPr algn="ctr">
              <a:defRPr b="1"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Personal response learning</a:t>
            </a:r>
          </a:p>
        </p:txBody>
      </p:sp>
      <p:sp>
        <p:nvSpPr>
          <p:cNvPr id="225" name="TextBox 14"/>
          <p:cNvSpPr txBox="1"/>
          <p:nvPr/>
        </p:nvSpPr>
        <p:spPr>
          <a:xfrm>
            <a:off x="8229598" y="2240279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BE4E2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LATER</a:t>
            </a:r>
          </a:p>
        </p:txBody>
      </p:sp>
      <p:sp>
        <p:nvSpPr>
          <p:cNvPr id="226" name="Rounded Rectangle 15"/>
          <p:cNvSpPr/>
          <p:nvPr/>
        </p:nvSpPr>
        <p:spPr>
          <a:xfrm>
            <a:off x="8183878" y="2633472"/>
            <a:ext cx="3154681" cy="164592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19191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16"/>
          <p:cNvSpPr txBox="1"/>
          <p:nvPr/>
        </p:nvSpPr>
        <p:spPr>
          <a:xfrm>
            <a:off x="8458200" y="2766059"/>
            <a:ext cx="2606041" cy="146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Optional wearable integrations</a:t>
            </a:r>
          </a:p>
          <a:p>
            <a:pPr algn="ctr"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Privacy-preserving cloud sync</a:t>
            </a:r>
          </a:p>
          <a:p>
            <a:pPr algn="ctr">
              <a:defRPr b="1" sz="1500">
                <a:solidFill>
                  <a:srgbClr val="19191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Clinician-shareable summaries</a:t>
            </a:r>
          </a:p>
        </p:txBody>
      </p:sp>
      <p:sp>
        <p:nvSpPr>
          <p:cNvPr id="228" name="Prototype"/>
          <p:cNvSpPr txBox="1"/>
          <p:nvPr/>
        </p:nvSpPr>
        <p:spPr>
          <a:xfrm>
            <a:off x="406822" y="4710256"/>
            <a:ext cx="2105942" cy="58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/>
            </a:lvl1pPr>
          </a:lstStyle>
          <a:p>
            <a:pPr/>
            <a:r>
              <a:t>Prototype</a:t>
            </a:r>
          </a:p>
        </p:txBody>
      </p:sp>
      <p:sp>
        <p:nvSpPr>
          <p:cNvPr id="229" name="https://manvirajput21.github.io/ManKush-MindFit/"/>
          <p:cNvSpPr txBox="1"/>
          <p:nvPr/>
        </p:nvSpPr>
        <p:spPr>
          <a:xfrm>
            <a:off x="494785" y="5498558"/>
            <a:ext cx="548863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u="sng">
                <a:solidFill>
                  <a:srgbClr val="2998E3"/>
                </a:solidFill>
                <a:uFill>
                  <a:solidFill>
                    <a:srgbClr val="2998E3"/>
                  </a:solidFill>
                </a:uFill>
                <a:latin typeface="+mn-lt"/>
                <a:ea typeface="+mn-ea"/>
                <a:cs typeface="+mn-cs"/>
                <a:sym typeface="Helvetica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0969DA"/>
                </a:solidFill>
                <a:uFillTx/>
              </a:defRPr>
            </a:pPr>
            <a:r>
              <a:rPr>
                <a:solidFill>
                  <a:srgbClr val="2998E3"/>
                </a:solidFill>
                <a:uFill>
                  <a:solidFill>
                    <a:srgbClr val="2998E3"/>
                  </a:solidFill>
                </a:uFill>
                <a:hlinkClick r:id="rId2" invalidUrl="" action="" tgtFrame="" tooltip="" history="1" highlightClick="0" endSnd="0"/>
              </a:rPr>
              <a:t>https://manvirajput21.github.io/ManKush-MindFit/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0000FF"/>
      </a:hlink>
      <a:folHlink>
        <a:srgbClr val="FF00FF"/>
      </a:folHlink>
    </a:clrScheme>
    <a:fontScheme name="Retrospec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270000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0000FF"/>
      </a:hlink>
      <a:folHlink>
        <a:srgbClr val="FF00FF"/>
      </a:folHlink>
    </a:clrScheme>
    <a:fontScheme name="Retrospec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270000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